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9" r:id="rId5"/>
    <p:sldId id="270" r:id="rId6"/>
    <p:sldId id="271" r:id="rId7"/>
    <p:sldId id="272" r:id="rId8"/>
    <p:sldId id="273" r:id="rId9"/>
    <p:sldId id="274" r:id="rId10"/>
    <p:sldId id="275" r:id="rId11"/>
    <p:sldId id="276" r:id="rId12"/>
    <p:sldId id="2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63" d="100"/>
          <a:sy n="63" d="100"/>
        </p:scale>
        <p:origin x="10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4/10/2025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4/10/2025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4/10/2025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4/10/2025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4/10/2025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4/10/2025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4/10/2025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4/10/2025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4/10/2025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4/10/2025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1D99B-FE6B-CE76-B281-0048D2E30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4B5474-E8B6-C7F3-B9C0-167F8AD6880C}"/>
              </a:ext>
            </a:extLst>
          </p:cNvPr>
          <p:cNvSpPr>
            <a:spLocks noGrp="1"/>
          </p:cNvSpPr>
          <p:nvPr>
            <p:ph type="ctrTitle"/>
          </p:nvPr>
        </p:nvSpPr>
        <p:spPr>
          <a:xfrm>
            <a:off x="1280160" y="639097"/>
            <a:ext cx="6111240" cy="3686015"/>
          </a:xfrm>
        </p:spPr>
        <p:txBody>
          <a:bodyPr>
            <a:normAutofit/>
          </a:bodyPr>
          <a:lstStyle/>
          <a:p>
            <a:r>
              <a:rPr lang="en-US" sz="2800" b="1" dirty="0">
                <a:solidFill>
                  <a:srgbClr val="FF0000"/>
                </a:solidFill>
              </a:rPr>
              <a:t>Sales Performance Dashboard for      Retail Businesses </a:t>
            </a:r>
          </a:p>
        </p:txBody>
      </p:sp>
      <p:sp>
        <p:nvSpPr>
          <p:cNvPr id="3" name="Subtitle 2">
            <a:extLst>
              <a:ext uri="{FF2B5EF4-FFF2-40B4-BE49-F238E27FC236}">
                <a16:creationId xmlns:a16="http://schemas.microsoft.com/office/drawing/2014/main" id="{3B41CABE-13EC-450E-105B-613BB5783C2E}"/>
              </a:ext>
            </a:extLst>
          </p:cNvPr>
          <p:cNvSpPr>
            <a:spLocks noGrp="1"/>
          </p:cNvSpPr>
          <p:nvPr>
            <p:ph type="subTitle" idx="1"/>
          </p:nvPr>
        </p:nvSpPr>
        <p:spPr>
          <a:xfrm>
            <a:off x="1280160" y="4672739"/>
            <a:ext cx="5622086" cy="1021498"/>
          </a:xfrm>
        </p:spPr>
        <p:txBody>
          <a:bodyPr>
            <a:normAutofit/>
          </a:bodyPr>
          <a:lstStyle/>
          <a:p>
            <a:r>
              <a:rPr lang="en-US" sz="2400" b="1" dirty="0">
                <a:solidFill>
                  <a:srgbClr val="00B050"/>
                </a:solidFill>
              </a:rPr>
              <a:t>Prepared by:- Abhinav </a:t>
            </a:r>
            <a:r>
              <a:rPr lang="en-US" sz="2400" b="1" dirty="0" err="1">
                <a:solidFill>
                  <a:srgbClr val="00B050"/>
                </a:solidFill>
              </a:rPr>
              <a:t>kakkeri</a:t>
            </a:r>
            <a:endParaRPr lang="en-US" sz="2400" b="1" dirty="0">
              <a:solidFill>
                <a:srgbClr val="00B050"/>
              </a:solidFill>
            </a:endParaRPr>
          </a:p>
        </p:txBody>
      </p:sp>
      <p:pic>
        <p:nvPicPr>
          <p:cNvPr id="6" name="Picture 5">
            <a:extLst>
              <a:ext uri="{FF2B5EF4-FFF2-40B4-BE49-F238E27FC236}">
                <a16:creationId xmlns:a16="http://schemas.microsoft.com/office/drawing/2014/main" id="{15E5D158-0BC7-CEC5-4314-5364E14DD5F5}"/>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7556686" y="1"/>
            <a:ext cx="4635315" cy="6400799"/>
          </a:xfrm>
          <a:prstGeom prst="rect">
            <a:avLst/>
          </a:prstGeom>
        </p:spPr>
      </p:pic>
    </p:spTree>
    <p:extLst>
      <p:ext uri="{BB962C8B-B14F-4D97-AF65-F5344CB8AC3E}">
        <p14:creationId xmlns:p14="http://schemas.microsoft.com/office/powerpoint/2010/main" val="4212737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83C18-DF87-A30F-9D67-CEF88AF2632B}"/>
              </a:ext>
            </a:extLst>
          </p:cNvPr>
          <p:cNvSpPr>
            <a:spLocks noGrp="1"/>
          </p:cNvSpPr>
          <p:nvPr>
            <p:ph type="title"/>
          </p:nvPr>
        </p:nvSpPr>
        <p:spPr/>
        <p:txBody>
          <a:bodyPr/>
          <a:lstStyle/>
          <a:p>
            <a:r>
              <a:rPr lang="en-IN" b="1" dirty="0">
                <a:solidFill>
                  <a:srgbClr val="00B0F0"/>
                </a:solidFill>
              </a:rPr>
              <a:t>Introduction</a:t>
            </a:r>
          </a:p>
        </p:txBody>
      </p:sp>
      <p:sp>
        <p:nvSpPr>
          <p:cNvPr id="3" name="Content Placeholder 2">
            <a:extLst>
              <a:ext uri="{FF2B5EF4-FFF2-40B4-BE49-F238E27FC236}">
                <a16:creationId xmlns:a16="http://schemas.microsoft.com/office/drawing/2014/main" id="{05C22811-0D22-1C2F-3C06-393C824DABB3}"/>
              </a:ext>
            </a:extLst>
          </p:cNvPr>
          <p:cNvSpPr>
            <a:spLocks noGrp="1"/>
          </p:cNvSpPr>
          <p:nvPr>
            <p:ph idx="1"/>
          </p:nvPr>
        </p:nvSpPr>
        <p:spPr>
          <a:xfrm>
            <a:off x="1066800" y="1910081"/>
            <a:ext cx="10058400" cy="3760891"/>
          </a:xfrm>
        </p:spPr>
        <p:txBody>
          <a:bodyPr>
            <a:normAutofit/>
          </a:bodyPr>
          <a:lstStyle/>
          <a:p>
            <a:pPr algn="just"/>
            <a:r>
              <a:rPr lang="en-US" sz="2800" b="1" dirty="0"/>
              <a:t>This report presents an analysis of the *Retail Sales Performance Dashboard*, which provides insights into revenue and profit trends across various product categories, states, cities, and time periods. The objective is to interpret the data, identify key patterns, and offer recommendations for optimizing sales strategies..</a:t>
            </a:r>
            <a:endParaRPr lang="en-IN" sz="2800" b="1" dirty="0"/>
          </a:p>
        </p:txBody>
      </p:sp>
    </p:spTree>
    <p:extLst>
      <p:ext uri="{BB962C8B-B14F-4D97-AF65-F5344CB8AC3E}">
        <p14:creationId xmlns:p14="http://schemas.microsoft.com/office/powerpoint/2010/main" val="861158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1DAA6-963F-DCE7-7458-AD1AF73AD0CB}"/>
              </a:ext>
            </a:extLst>
          </p:cNvPr>
          <p:cNvSpPr>
            <a:spLocks noGrp="1"/>
          </p:cNvSpPr>
          <p:nvPr>
            <p:ph type="title"/>
          </p:nvPr>
        </p:nvSpPr>
        <p:spPr/>
        <p:txBody>
          <a:bodyPr/>
          <a:lstStyle/>
          <a:p>
            <a:r>
              <a:rPr lang="en-IN" b="1" dirty="0">
                <a:solidFill>
                  <a:srgbClr val="00B0F0"/>
                </a:solidFill>
              </a:rPr>
              <a:t>Acknowledgment</a:t>
            </a:r>
          </a:p>
        </p:txBody>
      </p:sp>
      <p:sp>
        <p:nvSpPr>
          <p:cNvPr id="3" name="Content Placeholder 2">
            <a:extLst>
              <a:ext uri="{FF2B5EF4-FFF2-40B4-BE49-F238E27FC236}">
                <a16:creationId xmlns:a16="http://schemas.microsoft.com/office/drawing/2014/main" id="{21F80572-3B1F-236C-1375-7E1D3C072B75}"/>
              </a:ext>
            </a:extLst>
          </p:cNvPr>
          <p:cNvSpPr>
            <a:spLocks noGrp="1"/>
          </p:cNvSpPr>
          <p:nvPr>
            <p:ph idx="1"/>
          </p:nvPr>
        </p:nvSpPr>
        <p:spPr/>
        <p:txBody>
          <a:bodyPr>
            <a:normAutofit/>
          </a:bodyPr>
          <a:lstStyle/>
          <a:p>
            <a:r>
              <a:rPr lang="en-US" sz="2800" b="1" dirty="0"/>
              <a:t>We extend our sincere appreciation to all contributors who played a key role in the creation and analysis of this *Retail Sales Performance Report*. Special thanks to the data analysts, business strategists, and decision-makers who provided valuable insights, helping translate raw sales figures into meaningful strategies. </a:t>
            </a:r>
            <a:endParaRPr lang="en-IN" sz="2800" b="1" dirty="0"/>
          </a:p>
        </p:txBody>
      </p:sp>
    </p:spTree>
    <p:extLst>
      <p:ext uri="{BB962C8B-B14F-4D97-AF65-F5344CB8AC3E}">
        <p14:creationId xmlns:p14="http://schemas.microsoft.com/office/powerpoint/2010/main" val="220652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9B024-272D-28B6-FBBA-6C82FE18CFAD}"/>
              </a:ext>
            </a:extLst>
          </p:cNvPr>
          <p:cNvSpPr>
            <a:spLocks noGrp="1"/>
          </p:cNvSpPr>
          <p:nvPr>
            <p:ph type="title"/>
          </p:nvPr>
        </p:nvSpPr>
        <p:spPr>
          <a:xfrm>
            <a:off x="1234440" y="838200"/>
            <a:ext cx="9890760" cy="1127760"/>
          </a:xfrm>
        </p:spPr>
        <p:txBody>
          <a:bodyPr/>
          <a:lstStyle/>
          <a:p>
            <a:r>
              <a:rPr lang="en-US" b="1" dirty="0">
                <a:solidFill>
                  <a:srgbClr val="00B0F0"/>
                </a:solidFill>
              </a:rPr>
              <a:t>Dashboard</a:t>
            </a:r>
            <a:endParaRPr lang="en-IN" b="1" dirty="0">
              <a:solidFill>
                <a:srgbClr val="00B0F0"/>
              </a:solidFill>
            </a:endParaRPr>
          </a:p>
        </p:txBody>
      </p:sp>
      <p:pic>
        <p:nvPicPr>
          <p:cNvPr id="5" name="Content Placeholder 4">
            <a:extLst>
              <a:ext uri="{FF2B5EF4-FFF2-40B4-BE49-F238E27FC236}">
                <a16:creationId xmlns:a16="http://schemas.microsoft.com/office/drawing/2014/main" id="{4EE1D62E-0839-2FA1-18E5-B1CF8CD9F955}"/>
              </a:ext>
            </a:extLst>
          </p:cNvPr>
          <p:cNvPicPr>
            <a:picLocks noGrp="1" noChangeAspect="1"/>
          </p:cNvPicPr>
          <p:nvPr>
            <p:ph idx="1"/>
          </p:nvPr>
        </p:nvPicPr>
        <p:blipFill>
          <a:blip r:embed="rId2"/>
          <a:stretch>
            <a:fillRect/>
          </a:stretch>
        </p:blipFill>
        <p:spPr>
          <a:xfrm>
            <a:off x="1234441" y="2108200"/>
            <a:ext cx="9890760" cy="4109720"/>
          </a:xfrm>
        </p:spPr>
      </p:pic>
    </p:spTree>
    <p:extLst>
      <p:ext uri="{BB962C8B-B14F-4D97-AF65-F5344CB8AC3E}">
        <p14:creationId xmlns:p14="http://schemas.microsoft.com/office/powerpoint/2010/main" val="3756461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FE451-A90D-8C27-575E-4265ED54B455}"/>
              </a:ext>
            </a:extLst>
          </p:cNvPr>
          <p:cNvSpPr>
            <a:spLocks noGrp="1"/>
          </p:cNvSpPr>
          <p:nvPr>
            <p:ph type="title"/>
          </p:nvPr>
        </p:nvSpPr>
        <p:spPr>
          <a:xfrm>
            <a:off x="1097280" y="263529"/>
            <a:ext cx="10058400" cy="1450757"/>
          </a:xfrm>
        </p:spPr>
        <p:txBody>
          <a:bodyPr/>
          <a:lstStyle/>
          <a:p>
            <a:r>
              <a:rPr lang="en-IN" b="1" dirty="0">
                <a:solidFill>
                  <a:srgbClr val="00B0F0"/>
                </a:solidFill>
              </a:rPr>
              <a:t>Key Findings</a:t>
            </a:r>
          </a:p>
        </p:txBody>
      </p:sp>
      <p:sp>
        <p:nvSpPr>
          <p:cNvPr id="3" name="Content Placeholder 2">
            <a:extLst>
              <a:ext uri="{FF2B5EF4-FFF2-40B4-BE49-F238E27FC236}">
                <a16:creationId xmlns:a16="http://schemas.microsoft.com/office/drawing/2014/main" id="{F79B186A-1DBC-4A71-1149-4D311F9F143C}"/>
              </a:ext>
            </a:extLst>
          </p:cNvPr>
          <p:cNvSpPr>
            <a:spLocks noGrp="1"/>
          </p:cNvSpPr>
          <p:nvPr>
            <p:ph idx="1"/>
          </p:nvPr>
        </p:nvSpPr>
        <p:spPr/>
        <p:txBody>
          <a:bodyPr>
            <a:normAutofit/>
          </a:bodyPr>
          <a:lstStyle/>
          <a:p>
            <a:pPr marL="0" indent="0">
              <a:buNone/>
            </a:pPr>
            <a:r>
              <a:rPr lang="en-US" sz="2400" b="1" dirty="0">
                <a:solidFill>
                  <a:srgbClr val="FF0000"/>
                </a:solidFill>
              </a:rPr>
              <a:t>A) Revenue Analysis:-</a:t>
            </a:r>
          </a:p>
          <a:p>
            <a:pPr>
              <a:buFont typeface="Wingdings" panose="05000000000000000000" pitchFamily="2" charset="2"/>
              <a:buChar char="Ø"/>
            </a:pPr>
            <a:r>
              <a:rPr lang="en-US" sz="2400" b="1" dirty="0"/>
              <a:t> The *Average Revenue* is distributed across different product categories, states, cities, and time periods.- </a:t>
            </a:r>
          </a:p>
          <a:p>
            <a:pPr>
              <a:buFont typeface="Wingdings" panose="05000000000000000000" pitchFamily="2" charset="2"/>
              <a:buChar char="Ø"/>
            </a:pPr>
            <a:r>
              <a:rPr lang="en-US" sz="2400" b="1" dirty="0"/>
              <a:t>The *Sum of Revenue by State ID* indicates which states contribute the most to total revenue.- </a:t>
            </a:r>
          </a:p>
          <a:p>
            <a:pPr>
              <a:buFont typeface="Wingdings" panose="05000000000000000000" pitchFamily="2" charset="2"/>
              <a:buChar char="Ø"/>
            </a:pPr>
            <a:r>
              <a:rPr lang="en-US" sz="2400" b="1" dirty="0"/>
              <a:t>The *Sum of Revenue and Profit by Week and Day* provides insights into the best-performing days in terms of sales</a:t>
            </a:r>
            <a:endParaRPr lang="en-IN" sz="2400" b="1" dirty="0"/>
          </a:p>
        </p:txBody>
      </p:sp>
    </p:spTree>
    <p:extLst>
      <p:ext uri="{BB962C8B-B14F-4D97-AF65-F5344CB8AC3E}">
        <p14:creationId xmlns:p14="http://schemas.microsoft.com/office/powerpoint/2010/main" val="1870591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75A7-062D-E486-DEC8-02EB46289069}"/>
              </a:ext>
            </a:extLst>
          </p:cNvPr>
          <p:cNvSpPr>
            <a:spLocks noGrp="1"/>
          </p:cNvSpPr>
          <p:nvPr>
            <p:ph type="title"/>
          </p:nvPr>
        </p:nvSpPr>
        <p:spPr/>
        <p:txBody>
          <a:bodyPr/>
          <a:lstStyle/>
          <a:p>
            <a:r>
              <a:rPr lang="en-IN" b="1" dirty="0">
                <a:solidFill>
                  <a:srgbClr val="00B0F0"/>
                </a:solidFill>
              </a:rPr>
              <a:t>Key Findings</a:t>
            </a:r>
            <a:endParaRPr lang="en-IN" dirty="0"/>
          </a:p>
        </p:txBody>
      </p:sp>
      <p:sp>
        <p:nvSpPr>
          <p:cNvPr id="3" name="Content Placeholder 2">
            <a:extLst>
              <a:ext uri="{FF2B5EF4-FFF2-40B4-BE49-F238E27FC236}">
                <a16:creationId xmlns:a16="http://schemas.microsoft.com/office/drawing/2014/main" id="{99997ACC-2151-F26D-F154-E47A5206AD86}"/>
              </a:ext>
            </a:extLst>
          </p:cNvPr>
          <p:cNvSpPr>
            <a:spLocks noGrp="1"/>
          </p:cNvSpPr>
          <p:nvPr>
            <p:ph idx="1"/>
          </p:nvPr>
        </p:nvSpPr>
        <p:spPr/>
        <p:txBody>
          <a:bodyPr>
            <a:normAutofit lnSpcReduction="10000"/>
          </a:bodyPr>
          <a:lstStyle/>
          <a:p>
            <a:pPr marL="0" indent="0">
              <a:buNone/>
            </a:pPr>
            <a:r>
              <a:rPr lang="en-US" b="1" dirty="0">
                <a:solidFill>
                  <a:srgbClr val="FF0000"/>
                </a:solidFill>
              </a:rPr>
              <a:t> B) Profitability Insights:-</a:t>
            </a:r>
          </a:p>
          <a:p>
            <a:pPr>
              <a:buFont typeface="Wingdings" panose="05000000000000000000" pitchFamily="2" charset="2"/>
              <a:buChar char="Ø"/>
            </a:pPr>
            <a:r>
              <a:rPr lang="en-US" b="1" dirty="0"/>
              <a:t> The *Sum of Revenue and Profit by Product Category* highlights the most profitable product categories.</a:t>
            </a:r>
          </a:p>
          <a:p>
            <a:pPr>
              <a:buFont typeface="Wingdings" panose="05000000000000000000" pitchFamily="2" charset="2"/>
              <a:buChar char="Ø"/>
            </a:pPr>
            <a:r>
              <a:rPr lang="en-US" b="1" dirty="0"/>
              <a:t> The *Sum of Profit by Product Category* further distinguishes the revenue-driving categories from those with lower profit margins.</a:t>
            </a:r>
          </a:p>
          <a:p>
            <a:pPr marL="0" indent="0">
              <a:buNone/>
            </a:pPr>
            <a:r>
              <a:rPr lang="en-US" b="1" dirty="0">
                <a:solidFill>
                  <a:srgbClr val="FF0000"/>
                </a:solidFill>
              </a:rPr>
              <a:t>C) Comparative Sales Analysis:- </a:t>
            </a:r>
          </a:p>
          <a:p>
            <a:pPr>
              <a:buFont typeface="Wingdings" panose="05000000000000000000" pitchFamily="2" charset="2"/>
              <a:buChar char="Ø"/>
            </a:pPr>
            <a:r>
              <a:rPr lang="en-US" b="1" dirty="0"/>
              <a:t>The dashboard contains bar charts comparing revenue and profit across different parameters, aiding in business decision-making. </a:t>
            </a:r>
          </a:p>
          <a:p>
            <a:pPr>
              <a:buFont typeface="Wingdings" panose="05000000000000000000" pitchFamily="2" charset="2"/>
              <a:buChar char="Ø"/>
            </a:pPr>
            <a:r>
              <a:rPr lang="en-US" b="1" dirty="0"/>
              <a:t>The *tables for Product Category and State* summarize profit and revenue distributions</a:t>
            </a:r>
            <a:endParaRPr lang="en-IN" b="1" dirty="0"/>
          </a:p>
        </p:txBody>
      </p:sp>
    </p:spTree>
    <p:extLst>
      <p:ext uri="{BB962C8B-B14F-4D97-AF65-F5344CB8AC3E}">
        <p14:creationId xmlns:p14="http://schemas.microsoft.com/office/powerpoint/2010/main" val="2273718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A77D-17D3-C879-822C-8FE3E34945A3}"/>
              </a:ext>
            </a:extLst>
          </p:cNvPr>
          <p:cNvSpPr>
            <a:spLocks noGrp="1"/>
          </p:cNvSpPr>
          <p:nvPr>
            <p:ph type="title"/>
          </p:nvPr>
        </p:nvSpPr>
        <p:spPr/>
        <p:txBody>
          <a:bodyPr/>
          <a:lstStyle/>
          <a:p>
            <a:r>
              <a:rPr lang="en-IN" b="1" dirty="0">
                <a:solidFill>
                  <a:srgbClr val="00B0F0"/>
                </a:solidFill>
              </a:rPr>
              <a:t>Recommendation</a:t>
            </a:r>
          </a:p>
        </p:txBody>
      </p:sp>
      <p:sp>
        <p:nvSpPr>
          <p:cNvPr id="3" name="Content Placeholder 2">
            <a:extLst>
              <a:ext uri="{FF2B5EF4-FFF2-40B4-BE49-F238E27FC236}">
                <a16:creationId xmlns:a16="http://schemas.microsoft.com/office/drawing/2014/main" id="{D339F3B8-C2EC-79A4-097F-1DA6B67B9AD7}"/>
              </a:ext>
            </a:extLst>
          </p:cNvPr>
          <p:cNvSpPr>
            <a:spLocks noGrp="1"/>
          </p:cNvSpPr>
          <p:nvPr>
            <p:ph idx="1"/>
          </p:nvPr>
        </p:nvSpPr>
        <p:spPr/>
        <p:txBody>
          <a:bodyPr>
            <a:normAutofit/>
          </a:bodyPr>
          <a:lstStyle/>
          <a:p>
            <a:pPr>
              <a:buFont typeface="Wingdings" panose="05000000000000000000" pitchFamily="2" charset="2"/>
              <a:buChar char="Ø"/>
            </a:pPr>
            <a:r>
              <a:rPr lang="en-US" sz="2800" b="1" dirty="0"/>
              <a:t>Focus on high-revenue states for regional marketing campaigns.</a:t>
            </a:r>
          </a:p>
          <a:p>
            <a:pPr>
              <a:buFont typeface="Wingdings" panose="05000000000000000000" pitchFamily="2" charset="2"/>
              <a:buChar char="Ø"/>
            </a:pPr>
            <a:r>
              <a:rPr lang="en-US" sz="2800" b="1" dirty="0"/>
              <a:t> Optimize pricing and promotional offers for high-performing      product categories.</a:t>
            </a:r>
          </a:p>
          <a:p>
            <a:pPr>
              <a:buFont typeface="Wingdings" panose="05000000000000000000" pitchFamily="2" charset="2"/>
              <a:buChar char="Ø"/>
            </a:pPr>
            <a:r>
              <a:rPr lang="en-US" sz="2800" b="1" dirty="0"/>
              <a:t> Identify the most profitable sales periods and adjust marketing        efforts accordingly.</a:t>
            </a:r>
            <a:endParaRPr lang="en-IN" sz="2800" b="1" dirty="0"/>
          </a:p>
        </p:txBody>
      </p:sp>
    </p:spTree>
    <p:extLst>
      <p:ext uri="{BB962C8B-B14F-4D97-AF65-F5344CB8AC3E}">
        <p14:creationId xmlns:p14="http://schemas.microsoft.com/office/powerpoint/2010/main" val="1394191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50FFA-4994-F933-FEC1-C1B35D9AF6C3}"/>
              </a:ext>
            </a:extLst>
          </p:cNvPr>
          <p:cNvSpPr>
            <a:spLocks noGrp="1"/>
          </p:cNvSpPr>
          <p:nvPr>
            <p:ph type="title"/>
          </p:nvPr>
        </p:nvSpPr>
        <p:spPr/>
        <p:txBody>
          <a:bodyPr/>
          <a:lstStyle/>
          <a:p>
            <a:r>
              <a:rPr lang="en-IN" b="1" dirty="0">
                <a:solidFill>
                  <a:srgbClr val="00B0F0"/>
                </a:solidFill>
              </a:rPr>
              <a:t>Conclusion</a:t>
            </a:r>
          </a:p>
        </p:txBody>
      </p:sp>
      <p:sp>
        <p:nvSpPr>
          <p:cNvPr id="3" name="Content Placeholder 2">
            <a:extLst>
              <a:ext uri="{FF2B5EF4-FFF2-40B4-BE49-F238E27FC236}">
                <a16:creationId xmlns:a16="http://schemas.microsoft.com/office/drawing/2014/main" id="{6EE83969-ADEB-F628-2662-B887DF18BBBD}"/>
              </a:ext>
            </a:extLst>
          </p:cNvPr>
          <p:cNvSpPr>
            <a:spLocks noGrp="1"/>
          </p:cNvSpPr>
          <p:nvPr>
            <p:ph idx="1"/>
          </p:nvPr>
        </p:nvSpPr>
        <p:spPr/>
        <p:txBody>
          <a:bodyPr>
            <a:normAutofit/>
          </a:bodyPr>
          <a:lstStyle/>
          <a:p>
            <a:r>
              <a:rPr lang="en-US" sz="2800" b="1" dirty="0"/>
              <a:t>The Retail Sales Performance Dashboard provides valuable insights into revenue and profit trends, helping businesses make data-driven decisions. By focusing on high-revenue states, optimizing product category strategies, and leveraging peak sales periods, companies can improve profitability and enhance customer engagement</a:t>
            </a:r>
            <a:endParaRPr lang="en-IN" sz="2800" b="1" dirty="0"/>
          </a:p>
        </p:txBody>
      </p:sp>
    </p:spTree>
    <p:extLst>
      <p:ext uri="{BB962C8B-B14F-4D97-AF65-F5344CB8AC3E}">
        <p14:creationId xmlns:p14="http://schemas.microsoft.com/office/powerpoint/2010/main" val="2476280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F558D-B378-44CA-D849-3B7A3C565E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28C813-8B89-80A0-C9D8-EA9F080B88B4}"/>
              </a:ext>
            </a:extLst>
          </p:cNvPr>
          <p:cNvSpPr>
            <a:spLocks noGrp="1"/>
          </p:cNvSpPr>
          <p:nvPr>
            <p:ph type="title"/>
          </p:nvPr>
        </p:nvSpPr>
        <p:spPr/>
        <p:txBody>
          <a:bodyPr/>
          <a:lstStyle/>
          <a:p>
            <a:endParaRPr lang="en-IN"/>
          </a:p>
        </p:txBody>
      </p:sp>
      <p:sp>
        <p:nvSpPr>
          <p:cNvPr id="4" name="Text Placeholder 3">
            <a:extLst>
              <a:ext uri="{FF2B5EF4-FFF2-40B4-BE49-F238E27FC236}">
                <a16:creationId xmlns:a16="http://schemas.microsoft.com/office/drawing/2014/main" id="{FC7E41D5-521A-7DA9-590E-C4973E8DDA36}"/>
              </a:ext>
            </a:extLst>
          </p:cNvPr>
          <p:cNvSpPr>
            <a:spLocks noGrp="1"/>
          </p:cNvSpPr>
          <p:nvPr>
            <p:ph type="body" sz="half" idx="2"/>
          </p:nvPr>
        </p:nvSpPr>
        <p:spPr/>
        <p:txBody>
          <a:bodyPr/>
          <a:lstStyle/>
          <a:p>
            <a:endParaRPr lang="en-IN"/>
          </a:p>
        </p:txBody>
      </p:sp>
      <p:pic>
        <p:nvPicPr>
          <p:cNvPr id="10" name="Picture Placeholder 9">
            <a:extLst>
              <a:ext uri="{FF2B5EF4-FFF2-40B4-BE49-F238E27FC236}">
                <a16:creationId xmlns:a16="http://schemas.microsoft.com/office/drawing/2014/main" id="{865E1DD0-BFCE-5FEE-BA16-2114D209DC8A}"/>
              </a:ext>
            </a:extLst>
          </p:cNvPr>
          <p:cNvPicPr>
            <a:picLocks noGrp="1" noChangeAspect="1"/>
          </p:cNvPicPr>
          <p:nvPr>
            <p:ph type="pic" idx="1"/>
          </p:nvPr>
        </p:nvPicPr>
        <p:blipFill>
          <a:blip r:embed="rId2"/>
          <a:srcRect t="16596" b="16596"/>
          <a:stretch>
            <a:fillRect/>
          </a:stretch>
        </p:blipFill>
        <p:spPr>
          <a:xfrm>
            <a:off x="15" y="0"/>
            <a:ext cx="12191985" cy="6858000"/>
          </a:xfrm>
        </p:spPr>
      </p:pic>
    </p:spTree>
    <p:extLst>
      <p:ext uri="{BB962C8B-B14F-4D97-AF65-F5344CB8AC3E}">
        <p14:creationId xmlns:p14="http://schemas.microsoft.com/office/powerpoint/2010/main" val="2040429585"/>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3.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{3F2C37D4-DFF4-4D73-A532-74F11E4BF8B8}tf33845126_win32</Template>
  <TotalTime>27</TotalTime>
  <Words>356</Words>
  <Application>Microsoft Office PowerPoint</Application>
  <PresentationFormat>Widescreen</PresentationFormat>
  <Paragraphs>25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Bookman Old Style</vt:lpstr>
      <vt:lpstr>Calibri</vt:lpstr>
      <vt:lpstr>Franklin Gothic Book</vt:lpstr>
      <vt:lpstr>Wingdings</vt:lpstr>
      <vt:lpstr>1_RetrospectVTI</vt:lpstr>
      <vt:lpstr>Sales Performance Dashboard for      Retail Businesses </vt:lpstr>
      <vt:lpstr>Introduction</vt:lpstr>
      <vt:lpstr>Acknowledgment</vt:lpstr>
      <vt:lpstr>Dashboard</vt:lpstr>
      <vt:lpstr>Key Findings</vt:lpstr>
      <vt:lpstr>Key Findings</vt:lpstr>
      <vt:lpstr>Recommendation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Asus</cp:lastModifiedBy>
  <cp:revision>1</cp:revision>
  <dcterms:created xsi:type="dcterms:W3CDTF">2025-04-10T08:10:18Z</dcterms:created>
  <dcterms:modified xsi:type="dcterms:W3CDTF">2025-04-10T08:37:45Z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